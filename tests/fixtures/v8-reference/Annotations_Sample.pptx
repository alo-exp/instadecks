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12187" y="1224124"/>
            <a:ext cx="7367321" cy="4153719"/>
          </a:xfrm>
          <a:prstGeom prst="rect">
            <a:avLst/>
          </a:prstGeom>
          <a:solidFill>
            <a:srgbClr val="D9DFE8"/>
          </a:solidFill>
          <a:ln w="12700">
            <a:solidFill>
              <a:srgbClr val="D9DFE8"/>
            </a:solidFill>
            <a:prstDash val="solid"/>
          </a:ln>
        </p:spPr>
      </p:sp>
      <p:pic>
        <p:nvPicPr>
          <p:cNvPr id="3" name="Image 0" descr="/Users/shafqat/Documents/Projects/Sourcevo/v5-blue-prestige/v8s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235097"/>
            <a:ext cx="7345375" cy="4131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" y="2359152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3152" y="2523744"/>
            <a:ext cx="20436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is ~95 characters on a single line. Risks wrapping or truncation at smaller display sizes.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2189988" y="1894836"/>
            <a:ext cx="3583455" cy="854764"/>
          </a:xfrm>
          <a:custGeom>
            <a:avLst/>
            <a:gdLst/>
            <a:ahLst/>
            <a:cxnLst/>
            <a:rect l="l" t="t" r="r" b="b"/>
            <a:pathLst>
              <a:path w="3583455" h="854764">
                <a:moveTo>
                  <a:pt x="0" y="653596"/>
                </a:moveTo>
                <a:lnTo>
                  <a:pt x="50292" y="653596"/>
                </a:lnTo>
                <a:lnTo>
                  <a:pt x="50292" y="745951"/>
                </a:lnTo>
                <a:lnTo>
                  <a:pt x="195700" y="745951"/>
                </a:lnTo>
                <a:lnTo>
                  <a:pt x="3579912" y="0"/>
                </a:lnTo>
                <a:lnTo>
                  <a:pt x="3583455" y="16073"/>
                </a:lnTo>
                <a:lnTo>
                  <a:pt x="197492" y="762410"/>
                </a:lnTo>
                <a:lnTo>
                  <a:pt x="50292" y="762410"/>
                </a:lnTo>
                <a:lnTo>
                  <a:pt x="50292" y="854764"/>
                </a:lnTo>
                <a:lnTo>
                  <a:pt x="0" y="854764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70943" y="1865091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3026664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896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POLISH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3152" y="3191256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"TopTal" in the bar chart Y-axis vs "Toptal" in the annotation panel — inconsistent capitalisation on the same slide.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89988" y="2572837"/>
            <a:ext cx="1024414" cy="944860"/>
          </a:xfrm>
          <a:custGeom>
            <a:avLst/>
            <a:gdLst/>
            <a:ahLst/>
            <a:cxnLst/>
            <a:rect l="l" t="t" r="r" b="b"/>
            <a:pathLst>
              <a:path w="1024414" h="944860">
                <a:moveTo>
                  <a:pt x="0" y="643108"/>
                </a:moveTo>
                <a:lnTo>
                  <a:pt x="50292" y="643108"/>
                </a:lnTo>
                <a:lnTo>
                  <a:pt x="50292" y="785754"/>
                </a:lnTo>
                <a:lnTo>
                  <a:pt x="193289" y="785754"/>
                </a:lnTo>
                <a:lnTo>
                  <a:pt x="1013025" y="0"/>
                </a:lnTo>
                <a:lnTo>
                  <a:pt x="1024414" y="11882"/>
                </a:lnTo>
                <a:lnTo>
                  <a:pt x="199903" y="802213"/>
                </a:lnTo>
                <a:lnTo>
                  <a:pt x="50292" y="802213"/>
                </a:lnTo>
                <a:lnTo>
                  <a:pt x="50292" y="944860"/>
                </a:lnTo>
                <a:lnTo>
                  <a:pt x="0" y="944860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062" y="2526175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" y="3813048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73152" y="3977640"/>
            <a:ext cx="20436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X-axis title label. The "$B" unit is implied by bar labels but absent from the axis itself.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189988" y="4002329"/>
            <a:ext cx="2628908" cy="704053"/>
          </a:xfrm>
          <a:custGeom>
            <a:avLst/>
            <a:gdLst/>
            <a:ahLst/>
            <a:cxnLst/>
            <a:rect l="l" t="t" r="r" b="b"/>
            <a:pathLst>
              <a:path w="2628908" h="704053">
                <a:moveTo>
                  <a:pt x="0" y="0"/>
                </a:moveTo>
                <a:lnTo>
                  <a:pt x="50292" y="0"/>
                </a:lnTo>
                <a:lnTo>
                  <a:pt x="50292" y="92354"/>
                </a:lnTo>
                <a:lnTo>
                  <a:pt x="197589" y="92354"/>
                </a:lnTo>
                <a:lnTo>
                  <a:pt x="2628908" y="688066"/>
                </a:lnTo>
                <a:lnTo>
                  <a:pt x="2624991" y="704053"/>
                </a:lnTo>
                <a:lnTo>
                  <a:pt x="195603" y="108814"/>
                </a:lnTo>
                <a:lnTo>
                  <a:pt x="50292" y="108814"/>
                </a:lnTo>
                <a:lnTo>
                  <a:pt x="50292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16044" y="4674697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74859" y="3026664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MAJOR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0074859" y="3191256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 panel lists Upwork first (top), but the bar chart shows Upwork last (bottom). Reversed ordering forces cognitive re-mapping.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710493" y="2352474"/>
            <a:ext cx="3291214" cy="1165223"/>
          </a:xfrm>
          <a:custGeom>
            <a:avLst/>
            <a:gdLst/>
            <a:ahLst/>
            <a:cxnLst/>
            <a:rect l="l" t="t" r="r" b="b"/>
            <a:pathLst>
              <a:path w="3291214" h="1165223">
                <a:moveTo>
                  <a:pt x="3240922" y="863471"/>
                </a:moveTo>
                <a:lnTo>
                  <a:pt x="3291214" y="863471"/>
                </a:lnTo>
                <a:lnTo>
                  <a:pt x="3291214" y="1165223"/>
                </a:lnTo>
                <a:lnTo>
                  <a:pt x="3240922" y="1165223"/>
                </a:lnTo>
                <a:lnTo>
                  <a:pt x="3240922" y="1022577"/>
                </a:lnTo>
                <a:lnTo>
                  <a:pt x="3093312" y="1022577"/>
                </a:lnTo>
                <a:lnTo>
                  <a:pt x="0" y="15651"/>
                </a:lnTo>
                <a:lnTo>
                  <a:pt x="5095" y="0"/>
                </a:lnTo>
                <a:lnTo>
                  <a:pt x="3095924" y="1006117"/>
                </a:lnTo>
                <a:lnTo>
                  <a:pt x="3240922" y="1006117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52388" y="2319586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Disruption  ·  Slide 7 / 43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12187" y="1224124"/>
            <a:ext cx="7367321" cy="4153719"/>
          </a:xfrm>
          <a:prstGeom prst="rect">
            <a:avLst/>
          </a:prstGeom>
          <a:solidFill>
            <a:srgbClr val="D9DFE8"/>
          </a:solidFill>
          <a:ln w="12700">
            <a:solidFill>
              <a:srgbClr val="D9DFE8"/>
            </a:solidFill>
            <a:prstDash val="solid"/>
          </a:ln>
        </p:spPr>
      </p:sp>
      <p:pic>
        <p:nvPicPr>
          <p:cNvPr id="3" name="Image 0" descr="/Users/shafqat/Documents/Projects/Sourcevo/v5-blue-prestige/v8s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235097"/>
            <a:ext cx="7345375" cy="4131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" y="2240280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3152" y="2404872"/>
            <a:ext cx="20436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Italic subtitle is ~11 pt. Likely illegible at a standard 10–15 ft projection distance.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2189988" y="2221691"/>
            <a:ext cx="3141228" cy="409038"/>
          </a:xfrm>
          <a:custGeom>
            <a:avLst/>
            <a:gdLst/>
            <a:ahLst/>
            <a:cxnLst/>
            <a:rect l="l" t="t" r="r" b="b"/>
            <a:pathLst>
              <a:path w="3141228" h="409038">
                <a:moveTo>
                  <a:pt x="0" y="207870"/>
                </a:moveTo>
                <a:lnTo>
                  <a:pt x="50292" y="207870"/>
                </a:lnTo>
                <a:lnTo>
                  <a:pt x="50292" y="300225"/>
                </a:lnTo>
                <a:lnTo>
                  <a:pt x="196177" y="300225"/>
                </a:lnTo>
                <a:lnTo>
                  <a:pt x="3139558" y="0"/>
                </a:lnTo>
                <a:lnTo>
                  <a:pt x="3141228" y="16374"/>
                </a:lnTo>
                <a:lnTo>
                  <a:pt x="197015" y="316684"/>
                </a:lnTo>
                <a:lnTo>
                  <a:pt x="50292" y="316684"/>
                </a:lnTo>
                <a:lnTo>
                  <a:pt x="50292" y="409038"/>
                </a:lnTo>
                <a:lnTo>
                  <a:pt x="0" y="409038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30220" y="2195633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2907792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896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POLISH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3152" y="3072384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 row height ~22 px for 11 rows. Increasing to ~26 px would improve scan legibility without layout changes.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89988" y="3097073"/>
            <a:ext cx="1528604" cy="614783"/>
          </a:xfrm>
          <a:custGeom>
            <a:avLst/>
            <a:gdLst/>
            <a:ahLst/>
            <a:cxnLst/>
            <a:rect l="l" t="t" r="r" b="b"/>
            <a:pathLst>
              <a:path w="1528604" h="614783">
                <a:moveTo>
                  <a:pt x="0" y="0"/>
                </a:moveTo>
                <a:lnTo>
                  <a:pt x="50292" y="0"/>
                </a:lnTo>
                <a:lnTo>
                  <a:pt x="50292" y="142646"/>
                </a:lnTo>
                <a:lnTo>
                  <a:pt x="197969" y="142646"/>
                </a:lnTo>
                <a:lnTo>
                  <a:pt x="1528604" y="599214"/>
                </a:lnTo>
                <a:lnTo>
                  <a:pt x="1523262" y="614783"/>
                </a:lnTo>
                <a:lnTo>
                  <a:pt x="195223" y="159106"/>
                </a:lnTo>
                <a:lnTo>
                  <a:pt x="50292" y="159106"/>
                </a:lnTo>
                <a:lnTo>
                  <a:pt x="50292" y="301752"/>
                </a:lnTo>
                <a:lnTo>
                  <a:pt x="0" y="301752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14238" y="3683072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" y="3694176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73152" y="3858768"/>
            <a:ext cx="20436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Dark (&lt;25%) cells in AUTOMATION·2028 column blend with the adjacent navy row-label background — column boundary is visually ambiguous.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189988" y="3883457"/>
            <a:ext cx="2922028" cy="741806"/>
          </a:xfrm>
          <a:custGeom>
            <a:avLst/>
            <a:gdLst/>
            <a:ahLst/>
            <a:cxnLst/>
            <a:rect l="l" t="t" r="r" b="b"/>
            <a:pathLst>
              <a:path w="2922028" h="741806">
                <a:moveTo>
                  <a:pt x="0" y="0"/>
                </a:moveTo>
                <a:lnTo>
                  <a:pt x="50292" y="0"/>
                </a:lnTo>
                <a:lnTo>
                  <a:pt x="50292" y="192938"/>
                </a:lnTo>
                <a:lnTo>
                  <a:pt x="197393" y="192938"/>
                </a:lnTo>
                <a:lnTo>
                  <a:pt x="2922028" y="725652"/>
                </a:lnTo>
                <a:lnTo>
                  <a:pt x="2918870" y="741806"/>
                </a:lnTo>
                <a:lnTo>
                  <a:pt x="195799" y="209398"/>
                </a:lnTo>
                <a:lnTo>
                  <a:pt x="50292" y="209398"/>
                </a:lnTo>
                <a:lnTo>
                  <a:pt x="50292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09859" y="4592062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74859" y="3026664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0074859" y="3191256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citation sits only ~6 pt below the legend bar. At projection distance it reads as part of the legend.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585233" y="3215945"/>
            <a:ext cx="2416474" cy="1767445"/>
          </a:xfrm>
          <a:custGeom>
            <a:avLst/>
            <a:gdLst/>
            <a:ahLst/>
            <a:cxnLst/>
            <a:rect l="l" t="t" r="r" b="b"/>
            <a:pathLst>
              <a:path w="2416474" h="1767445">
                <a:moveTo>
                  <a:pt x="2366182" y="0"/>
                </a:moveTo>
                <a:lnTo>
                  <a:pt x="2416474" y="0"/>
                </a:lnTo>
                <a:lnTo>
                  <a:pt x="2416474" y="301752"/>
                </a:lnTo>
                <a:lnTo>
                  <a:pt x="2366182" y="301752"/>
                </a:lnTo>
                <a:lnTo>
                  <a:pt x="2366182" y="159106"/>
                </a:lnTo>
                <a:lnTo>
                  <a:pt x="2222553" y="159106"/>
                </a:lnTo>
                <a:lnTo>
                  <a:pt x="9677" y="1767445"/>
                </a:lnTo>
                <a:lnTo>
                  <a:pt x="0" y="1754131"/>
                </a:lnTo>
                <a:lnTo>
                  <a:pt x="2217203" y="142646"/>
                </a:lnTo>
                <a:lnTo>
                  <a:pt x="2366182" y="142646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33833" y="4963922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Disruption  ·  Slide 9 / 43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12187" y="1224124"/>
            <a:ext cx="7367321" cy="4153719"/>
          </a:xfrm>
          <a:prstGeom prst="rect">
            <a:avLst/>
          </a:prstGeom>
          <a:solidFill>
            <a:srgbClr val="D9DFE8"/>
          </a:solidFill>
          <a:ln w="12700">
            <a:solidFill>
              <a:srgbClr val="D9DFE8"/>
            </a:solidFill>
            <a:prstDash val="solid"/>
          </a:ln>
        </p:spPr>
      </p:sp>
      <p:pic>
        <p:nvPicPr>
          <p:cNvPr id="3" name="Image 0" descr="/Users/shafqat/Documents/Projects/Sourcevo/v5-blue-prestige/v8s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235097"/>
            <a:ext cx="7345375" cy="4131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" y="2633472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MAJOR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3152" y="2798064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PRE-2025 "5% AI" bar is ~4 px thin — its label floats above the bar rather than sitting inside it, breaking the stacked-bar metaphor.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2189988" y="2679714"/>
            <a:ext cx="1526677" cy="444791"/>
          </a:xfrm>
          <a:custGeom>
            <a:avLst/>
            <a:gdLst/>
            <a:ahLst/>
            <a:cxnLst/>
            <a:rect l="l" t="t" r="r" b="b"/>
            <a:pathLst>
              <a:path w="1526677" h="444791">
                <a:moveTo>
                  <a:pt x="0" y="143039"/>
                </a:moveTo>
                <a:lnTo>
                  <a:pt x="50292" y="143039"/>
                </a:lnTo>
                <a:lnTo>
                  <a:pt x="50292" y="285686"/>
                </a:lnTo>
                <a:lnTo>
                  <a:pt x="195720" y="285686"/>
                </a:lnTo>
                <a:lnTo>
                  <a:pt x="1523214" y="0"/>
                </a:lnTo>
                <a:lnTo>
                  <a:pt x="1526677" y="16091"/>
                </a:lnTo>
                <a:lnTo>
                  <a:pt x="197472" y="302145"/>
                </a:lnTo>
                <a:lnTo>
                  <a:pt x="50292" y="302145"/>
                </a:lnTo>
                <a:lnTo>
                  <a:pt x="50292" y="444791"/>
                </a:lnTo>
                <a:lnTo>
                  <a:pt x="0" y="444791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14238" y="2650128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3419856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3152" y="3584448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Y-axis (0–100%) is shown. Precise split values require mental calculation from the in-bar labels.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89988" y="3556001"/>
            <a:ext cx="576702" cy="354888"/>
          </a:xfrm>
          <a:custGeom>
            <a:avLst/>
            <a:gdLst/>
            <a:ahLst/>
            <a:cxnLst/>
            <a:rect l="l" t="t" r="r" b="b"/>
            <a:pathLst>
              <a:path w="576702" h="354888">
                <a:moveTo>
                  <a:pt x="0" y="53136"/>
                </a:moveTo>
                <a:lnTo>
                  <a:pt x="50292" y="53136"/>
                </a:lnTo>
                <a:lnTo>
                  <a:pt x="50292" y="195782"/>
                </a:lnTo>
                <a:lnTo>
                  <a:pt x="194575" y="195782"/>
                </a:lnTo>
                <a:lnTo>
                  <a:pt x="569076" y="0"/>
                </a:lnTo>
                <a:lnTo>
                  <a:pt x="576702" y="14586"/>
                </a:lnTo>
                <a:lnTo>
                  <a:pt x="198617" y="212242"/>
                </a:lnTo>
                <a:lnTo>
                  <a:pt x="50292" y="212242"/>
                </a:lnTo>
                <a:lnTo>
                  <a:pt x="50292" y="354888"/>
                </a:lnTo>
                <a:lnTo>
                  <a:pt x="0" y="354888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59339" y="3517801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74859" y="2633472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074859" y="2798064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"18% HUMAN" (2027–2030) is orphaned text floating below the bar area rather than inside the thin human segment.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660653" y="2822753"/>
            <a:ext cx="2341054" cy="1460721"/>
          </a:xfrm>
          <a:custGeom>
            <a:avLst/>
            <a:gdLst/>
            <a:ahLst/>
            <a:cxnLst/>
            <a:rect l="l" t="t" r="r" b="b"/>
            <a:pathLst>
              <a:path w="2341054" h="1460721">
                <a:moveTo>
                  <a:pt x="2290762" y="0"/>
                </a:moveTo>
                <a:lnTo>
                  <a:pt x="2341054" y="0"/>
                </a:lnTo>
                <a:lnTo>
                  <a:pt x="2341054" y="301752"/>
                </a:lnTo>
                <a:lnTo>
                  <a:pt x="2290762" y="301752"/>
                </a:lnTo>
                <a:lnTo>
                  <a:pt x="2290762" y="159106"/>
                </a:lnTo>
                <a:lnTo>
                  <a:pt x="2146766" y="159106"/>
                </a:lnTo>
                <a:lnTo>
                  <a:pt x="8558" y="1460721"/>
                </a:lnTo>
                <a:lnTo>
                  <a:pt x="0" y="1446661"/>
                </a:lnTo>
                <a:lnTo>
                  <a:pt x="2142150" y="142646"/>
                </a:lnTo>
                <a:lnTo>
                  <a:pt x="2290762" y="142646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07287" y="4261520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74859" y="3419856"/>
            <a:ext cx="20436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96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POLISH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0074859" y="3584448"/>
            <a:ext cx="20436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Descriptive text below each era column is ~12 pt. Consider 13 pt for comfortable projection legibility.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8142" y="3609137"/>
            <a:ext cx="2703565" cy="970934"/>
          </a:xfrm>
          <a:custGeom>
            <a:avLst/>
            <a:gdLst/>
            <a:ahLst/>
            <a:cxnLst/>
            <a:rect l="l" t="t" r="r" b="b"/>
            <a:pathLst>
              <a:path w="2703565" h="970934">
                <a:moveTo>
                  <a:pt x="2653273" y="0"/>
                </a:moveTo>
                <a:lnTo>
                  <a:pt x="2703565" y="0"/>
                </a:lnTo>
                <a:lnTo>
                  <a:pt x="2703565" y="301752"/>
                </a:lnTo>
                <a:lnTo>
                  <a:pt x="2653273" y="301752"/>
                </a:lnTo>
                <a:lnTo>
                  <a:pt x="2653273" y="159106"/>
                </a:lnTo>
                <a:lnTo>
                  <a:pt x="2508270" y="159106"/>
                </a:lnTo>
                <a:lnTo>
                  <a:pt x="5078" y="970934"/>
                </a:lnTo>
                <a:lnTo>
                  <a:pt x="0" y="955278"/>
                </a:lnTo>
                <a:lnTo>
                  <a:pt x="2505668" y="142646"/>
                </a:lnTo>
                <a:lnTo>
                  <a:pt x="2653273" y="142646"/>
                </a:lnTo>
                <a:close/>
              </a:path>
            </a:pathLst>
          </a:cu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40018" y="4550744"/>
            <a:ext cx="62179" cy="62179"/>
          </a:xfrm>
          <a:prstGeom prst="ellipse">
            <a:avLst/>
          </a:prstGeom>
          <a:solidFill>
            <a:srgbClr val="A0AEC0">
              <a:alpha val="50000"/>
            </a:srgbClr>
          </a:solidFill>
          <a:ln w="12700">
            <a:solidFill>
              <a:srgbClr val="A0AEC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Disruption  ·  Slide 10 / 43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2026-04-27T11:30:21Z</dcterms:created>
  <dcterms:modified xsi:type="dcterms:W3CDTF">2026-04-27T11:30:21Z</dcterms:modified>
</cp:coreProperties>
</file>